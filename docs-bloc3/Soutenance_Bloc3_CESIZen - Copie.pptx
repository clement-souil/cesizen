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3" r:id="rId15"/>
    <p:sldId id="275" r:id="rId16"/>
    <p:sldId id="277" r:id="rId17"/>
    <p:sldId id="278" r:id="rId18"/>
    <p:sldId id="279" r:id="rId19"/>
    <p:sldId id="280" r:id="rId20"/>
    <p:sldId id="281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786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5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2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-1600000" y="-1800000"/>
            <a:ext cx="2800000" cy="2800000"/>
          </a:xfrm>
          <a:prstGeom prst="ellipse">
            <a:avLst/>
          </a:prstGeom>
          <a:solidFill>
            <a:srgbClr val="6B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992000" y="-2600000"/>
            <a:ext cx="4200000" cy="4200000"/>
          </a:xfrm>
          <a:prstGeom prst="ellipse">
            <a:avLst/>
          </a:prstGeom>
          <a:solidFill>
            <a:srgbClr val="A79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-2000000" y="5058000"/>
            <a:ext cx="3800000" cy="3800000"/>
          </a:xfrm>
          <a:prstGeom prst="ellipse">
            <a:avLst/>
          </a:prstGeom>
          <a:solidFill>
            <a:srgbClr val="C9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92000" y="4458000"/>
            <a:ext cx="4800000" cy="480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-1200000" y="-1200000"/>
            <a:ext cx="3200000" cy="3200000"/>
          </a:xfrm>
          <a:prstGeom prst="ellipse">
            <a:avLst/>
          </a:prstGeom>
          <a:solidFill>
            <a:srgbClr val="F5EFE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-400000" y="-400000"/>
            <a:ext cx="1400000" cy="1400000"/>
          </a:xfrm>
          <a:prstGeom prst="ellipse">
            <a:avLst/>
          </a:prstGeom>
          <a:solidFill>
            <a:srgbClr val="B45309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992000" y="4858000"/>
            <a:ext cx="2600000" cy="2600000"/>
          </a:xfrm>
          <a:prstGeom prst="ellipse">
            <a:avLst/>
          </a:prstGeom>
          <a:solidFill>
            <a:srgbClr val="14B8A6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92000" y="3658000"/>
            <a:ext cx="4200000" cy="4200000"/>
          </a:xfrm>
          <a:prstGeom prst="ellipse">
            <a:avLst/>
          </a:prstGeom>
          <a:solidFill>
            <a:srgbClr val="0D948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77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et sécuriser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applications informatiques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33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3 — INFCDAAL3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7176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315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9F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CESIZen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498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Clément Souil  |  CESI CDA  |  Juin 2026</a:t>
            </a:r>
            <a:endParaRPr lang="en-US" sz="1400" dirty="0"/>
          </a:p>
        </p:txBody>
      </p:sp>
      <p:sp>
        <p:nvSpPr>
          <p:cNvPr id="16" name="Oval 15"/>
          <p:cNvSpPr/>
          <p:nvPr/>
        </p:nvSpPr>
        <p:spPr>
          <a:xfrm>
            <a:off x="600000" y="500000"/>
            <a:ext cx="160000" cy="160000"/>
          </a:xfrm>
          <a:prstGeom prst="ellipse">
            <a:avLst/>
          </a:prstGeom>
          <a:solidFill>
            <a:srgbClr val="C98A6B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140000"/>
            <a:ext cx="851360" cy="4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1F2E2A"/>
                </a:solidFill>
              </a:rPr>
              <a:t>BLOC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/>
          <p:cNvSpPr/>
          <p:nvPr/>
        </p:nvSpPr>
        <p:spPr>
          <a:xfrm>
            <a:off x="-800000" y="4858000"/>
            <a:ext cx="2200000" cy="2200000"/>
          </a:xfrm>
          <a:prstGeom prst="ellipse">
            <a:avLst/>
          </a:prstGeom>
          <a:solidFill>
            <a:srgbClr val="042F2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392000" y="0"/>
            <a:ext cx="1800000" cy="600000"/>
          </a:xfrm>
          <a:prstGeom prst="rect">
            <a:avLst/>
          </a:prstGeom>
          <a:solidFill>
            <a:srgbClr val="0D948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4552" cy="54864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1704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projet CESIZen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502920" cy="502920"/>
          </a:xfrm>
          <a:prstGeom prst="ellipse">
            <a:avLst/>
          </a:prstGeom>
          <a:solidFill>
            <a:srgbClr val="6B8B7A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déploiement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502920" cy="502920"/>
          </a:xfrm>
          <a:prstGeom prst="ellipse">
            <a:avLst/>
          </a:prstGeom>
          <a:solidFill>
            <a:srgbClr val="C98A6B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7200" y="24597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4871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502920" cy="502920"/>
          </a:xfrm>
          <a:prstGeom prst="ellipse">
            <a:avLst/>
          </a:prstGeom>
          <a:solidFill>
            <a:srgbClr val="A79BC9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1181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145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maintenance (Ticketing)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3776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8039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sécurisation (OWASP)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1097280"/>
            <a:ext cx="502920" cy="502920"/>
          </a:xfrm>
          <a:prstGeom prst="ellipse">
            <a:avLst/>
          </a:prstGeom>
          <a:solidFill>
            <a:srgbClr val="6B8B7A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217920" y="1143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11704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&amp; Données personnelles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755648"/>
            <a:ext cx="502920" cy="502920"/>
          </a:xfrm>
          <a:prstGeom prst="ellipse">
            <a:avLst/>
          </a:prstGeom>
          <a:solidFill>
            <a:srgbClr val="C98A6B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217920" y="1801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1828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crise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414016"/>
            <a:ext cx="502920" cy="502920"/>
          </a:xfrm>
          <a:prstGeom prst="ellipse">
            <a:avLst/>
          </a:prstGeom>
          <a:solidFill>
            <a:srgbClr val="A79BC9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217920" y="24597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24871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technologique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3072384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115E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31181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12280" y="3145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/>
          <p:nvPr/>
        </p:nvSpPr>
        <p:spPr>
          <a:xfrm>
            <a:off x="8992000" y="-1800000"/>
            <a:ext cx="4200000" cy="4200000"/>
          </a:xfrm>
          <a:prstGeom prst="ellipse">
            <a:avLst/>
          </a:prstGeom>
          <a:solidFill>
            <a:srgbClr val="E3F1E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92000" y="200000"/>
            <a:ext cx="220000" cy="220000"/>
          </a:xfrm>
          <a:prstGeom prst="ellipse">
            <a:avLst/>
          </a:prstGeom>
          <a:solidFill>
            <a:srgbClr val="B45309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92000" y="-800000"/>
            <a:ext cx="5000000" cy="5000000"/>
          </a:xfrm>
          <a:prstGeom prst="ellipse">
            <a:avLst/>
          </a:prstGeom>
          <a:solidFill>
            <a:srgbClr val="042F2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projet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CESIZen — Application de bien-être mental</a:t>
            </a:r>
            <a:endParaRPr lang="en-US" sz="18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26A44BD-8D9D-D3AE-C7A9-CAE51243A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200" y="450326"/>
            <a:ext cx="5019004" cy="59023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CESIZen — Architecture &amp; Fonctionnalités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E3F1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— .NET 9 ASP.NET 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— MySQL 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— Entity Framework Core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— JWT Bearer Tokens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Déployé sur Railway (PaaS)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E3F1E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— React 18 + Vite + TypeScript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— React Native + Expo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— Tailwind CSS + shadcn/ui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Déployé sur Railway (Static)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VITE_API_URL via .env.production</a:t>
            </a:r>
            <a:endParaRPr lang="en-US" sz="1300" dirty="0"/>
          </a:p>
        </p:txBody>
      </p:sp>
      <p:sp>
        <p:nvSpPr>
          <p:cNvPr id="32" name="TextBox 31"/>
          <p:cNvSpPr txBox="1"/>
          <p:nvPr/>
        </p:nvSpPr>
        <p:spPr>
          <a:xfrm>
            <a:off x="400000" y="4620000"/>
            <a:ext cx="11392000" cy="2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</a:rPr>
              <a:t>Fonctionnalités — 3 modules implémentés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Module 1 — Comptes utilisateurs : inscription, connexion, RBAC USER/ADMIN, gestion admin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Module 2 — Ressources documentaires : filtres catégories, recherche, approbation admin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Module choix — Diagnostics Holmes &amp; Rahe : 43 événements, score, interprétation, historique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8992000" y="-1800000"/>
            <a:ext cx="4200000" cy="4200000"/>
          </a:xfrm>
          <a:prstGeom prst="ellipse">
            <a:avLst/>
          </a:prstGeom>
          <a:solidFill>
            <a:srgbClr val="EAF1EC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92000" y="200000"/>
            <a:ext cx="220000" cy="220000"/>
          </a:xfrm>
          <a:prstGeom prst="ellipse">
            <a:avLst/>
          </a:prstGeom>
          <a:solidFill>
            <a:srgbClr val="B45309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92000" y="-800000"/>
            <a:ext cx="5000000" cy="5000000"/>
          </a:xfrm>
          <a:prstGeom prst="ellipse">
            <a:avLst/>
          </a:prstGeom>
          <a:solidFill>
            <a:srgbClr val="042F2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déploiement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Flow · Railway · Environnements dev/test/prod</a:t>
            </a:r>
            <a:endParaRPr lang="en-US" sz="1800" dirty="0"/>
          </a:p>
        </p:txBody>
      </p:sp>
      <p:sp>
        <p:nvSpPr>
          <p:cNvPr id="12" name="Oval 11"/>
          <p:cNvSpPr/>
          <p:nvPr/>
        </p:nvSpPr>
        <p:spPr>
          <a:xfrm>
            <a:off x="10042000" y="350000"/>
            <a:ext cx="1300000" cy="1300000"/>
          </a:xfrm>
          <a:prstGeom prst="ellipse">
            <a:avLst/>
          </a:prstGeom>
          <a:solidFill>
            <a:srgbClr val="8FAE9E"/>
          </a:solidFill>
          <a:ln>
            <a:noFill/>
          </a:ln>
          <a:effectLst>
            <a:outerShdw blurRad="90000" dist="30000" dir="5400000" algn="bl" rotWithShape="0">
              <a:srgbClr val="1F2E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000" y="701000"/>
            <a:ext cx="598000" cy="59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 &amp; Environnements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EAF1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1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protégées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→ Production (PR obligatoire + CI verte)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→ Intégration (PR obligatoire + CI verte)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commit direct autorisé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 : feat:, fix:, ci:, security: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EAF1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1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de travail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feature/* → Nouvelles fonctionnalités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fix/* → Corrections de bugs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security/* → Correctifs sécurité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docs/* → Documentation technique</a:t>
            </a:r>
            <a:endParaRPr lang="en-US" sz="1300" dirty="0"/>
          </a:p>
        </p:txBody>
      </p:sp>
      <p:sp>
        <p:nvSpPr>
          <p:cNvPr id="28" name="TextBox 27"/>
          <p:cNvSpPr txBox="1"/>
          <p:nvPr/>
        </p:nvSpPr>
        <p:spPr>
          <a:xfrm>
            <a:off x="400000" y="4620000"/>
            <a:ext cx="11392000" cy="2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</a:rPr>
              <a:t>Environnements de déploiement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Dev : localhost — dotnet run / npm run dev / WampServer MySQL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CI/Test : GitHub Actions ubuntu-latest — build, tests, lint, scan Trivy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Production : Railway — API + Web + MySQL — déploiement auto sur merge master</a:t>
            </a:r>
          </a:p>
          <a:p>
            <a:pPr algn="l"/>
            <a:r>
              <a:rPr sz="1300" b="0">
                <a:solidFill>
                  <a:srgbClr val="042F2E"/>
                </a:solidFill>
              </a:rPr>
              <a:t>• Rollback : Redeploy Railway sur version stable en &lt; 2 min  |  Secrets : GitHub Secrets → Railway Variables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8992000" y="-1800000"/>
            <a:ext cx="4200000" cy="4200000"/>
          </a:xfrm>
          <a:prstGeom prst="ellipse">
            <a:avLst/>
          </a:prstGeom>
          <a:solidFill>
            <a:srgbClr val="F6EBE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92000" y="200000"/>
            <a:ext cx="220000" cy="220000"/>
          </a:xfrm>
          <a:prstGeom prst="ellipse">
            <a:avLst/>
          </a:prstGeom>
          <a:solidFill>
            <a:srgbClr val="B45309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92000" y="-800000"/>
            <a:ext cx="5000000" cy="5000000"/>
          </a:xfrm>
          <a:prstGeom prst="ellipse">
            <a:avLst/>
          </a:prstGeom>
          <a:solidFill>
            <a:srgbClr val="042F2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— 5 jobs automatisés</a:t>
            </a:r>
            <a:endParaRPr lang="en-US" sz="1800" dirty="0"/>
          </a:p>
        </p:txBody>
      </p:sp>
      <p:sp>
        <p:nvSpPr>
          <p:cNvPr id="12" name="Oval 11"/>
          <p:cNvSpPr/>
          <p:nvPr/>
        </p:nvSpPr>
        <p:spPr>
          <a:xfrm>
            <a:off x="10042000" y="350000"/>
            <a:ext cx="1300000" cy="1300000"/>
          </a:xfrm>
          <a:prstGeom prst="ellipse">
            <a:avLst/>
          </a:prstGeom>
          <a:solidFill>
            <a:srgbClr val="C98A6B"/>
          </a:solidFill>
          <a:ln>
            <a:noFill/>
          </a:ln>
          <a:effectLst>
            <a:outerShdw blurRad="90000" dist="30000" dir="5400000" algn="bl" rotWithShape="0">
              <a:srgbClr val="1F2E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000" y="701000"/>
            <a:ext cx="598000" cy="59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GitHub Actions — ci.yml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1 — API Build &amp; Test : Setup .NET 9 → Restore → Build Release → xUnit Tests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09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2 — Web Lint &amp; Build : Setup Node 20 → npm ci --ignore-scripts → ESLint → Vite build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6829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3 — Security Trivy : 2 scans CVE CRITICAL/HIGH — NuGet backend + npm frontend (informatif)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2666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4 — SonarCloud : Analyse statique + Quality Gate (bloquant si non passé)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Déclenchement : chaque push et pull request sur develop et master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36850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 Job 5 — Deploy Gate : approbation manuelle avant déploiement (GitHub Environments)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du pipeline CI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F6EB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5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supply chain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tierces épinglées sur SHA complet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ci --ignore-scripts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SONAR_TOKEN via env var (pas ${{ }})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JWT_KEY via GitHub Secrets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F6EB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5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 SonarCloud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 bloquant sur les PRs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CI uniquement (Automatic Analysis désactivée)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détectées et corrigées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: clement-souil86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maintenance — GitHub Issues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EFEC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5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— Dysfonctionnement identifié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 — Nouvelle fonctionnalité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— Vulnérabilité / risque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— Mise à jour docs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</a:t>
            </a: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Info veille technologique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4360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high — Traitement urgent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EFEC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5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 — Livrable Bloc 2 (19/05/2026)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v1.1.0 — Déploiement &amp; sécurisation Bloc 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v2.0.0 — Évolutions futures (reset mdp…)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: Détection → Triage → Dev → PR → Merge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8992000" y="-1800000"/>
            <a:ext cx="4200000" cy="4200000"/>
          </a:xfrm>
          <a:prstGeom prst="ellipse">
            <a:avLst/>
          </a:prstGeom>
          <a:solidFill>
            <a:srgbClr val="EFECF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92000" y="200000"/>
            <a:ext cx="220000" cy="220000"/>
          </a:xfrm>
          <a:prstGeom prst="ellipse">
            <a:avLst/>
          </a:prstGeom>
          <a:solidFill>
            <a:srgbClr val="B45309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92000" y="-800000"/>
            <a:ext cx="5000000" cy="5000000"/>
          </a:xfrm>
          <a:prstGeom prst="ellipse">
            <a:avLst/>
          </a:prstGeom>
          <a:solidFill>
            <a:srgbClr val="042F2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sécurisation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— Analyse &amp; actions correctives</a:t>
            </a:r>
            <a:endParaRPr lang="en-US" sz="1800" dirty="0"/>
          </a:p>
        </p:txBody>
      </p:sp>
      <p:sp>
        <p:nvSpPr>
          <p:cNvPr id="12" name="Oval 11"/>
          <p:cNvSpPr/>
          <p:nvPr/>
        </p:nvSpPr>
        <p:spPr>
          <a:xfrm>
            <a:off x="10042000" y="350000"/>
            <a:ext cx="1300000" cy="1300000"/>
          </a:xfrm>
          <a:prstGeom prst="ellipse">
            <a:avLst/>
          </a:prstGeom>
          <a:solidFill>
            <a:srgbClr val="A79BC9"/>
          </a:solidFill>
          <a:ln>
            <a:noFill/>
          </a:ln>
          <a:effectLst>
            <a:outerShdw blurRad="90000" dist="30000" dir="5400000" algn="bl" rotWithShape="0">
              <a:srgbClr val="1F2E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000" y="701000"/>
            <a:ext cx="598000" cy="59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val 72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sécurisation — OWASP Top 10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Vulnérabilité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822960" cy="347472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4114800" cy="347472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5778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CESIZen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44168"/>
            <a:ext cx="41148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13898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Broken Access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44168"/>
            <a:ext cx="822960" cy="402336"/>
          </a:xfrm>
          <a:prstGeom prst="rect">
            <a:avLst/>
          </a:prstGeom>
          <a:solidFill>
            <a:srgbClr val="FECAC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63440" y="138988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1344168"/>
            <a:ext cx="6611112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669280" y="138988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JWT RBAC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792224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18379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A02 Cryptographic Failures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792224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663440" y="183794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1792224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669280" y="183794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JWT secret, HTTPS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41148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48640" y="22860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A03 Injection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663440" y="228600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577840" y="2240280"/>
            <a:ext cx="6611112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669280" y="228600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EF Core ORM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688336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48640" y="27340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A04 Insecure Design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688336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663440" y="273405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577840" y="2688336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669280" y="273405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— rate limiting planifié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136392"/>
            <a:ext cx="41148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48640" y="31821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A05 Security Misconfiguration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136392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663440" y="31821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577840" y="3136392"/>
            <a:ext cx="6611112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5669280" y="318211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— CORS à restreindre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584448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48640" y="36301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A06 Vulnerable Components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3584448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663440" y="36301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577840" y="3584448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5669280" y="363016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Trivy CI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032504"/>
            <a:ext cx="41148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548640" y="40782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A07 Auth Failures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4032504"/>
            <a:ext cx="822960" cy="402336"/>
          </a:xfrm>
          <a:prstGeom prst="rect">
            <a:avLst/>
          </a:prstGeom>
          <a:solidFill>
            <a:srgbClr val="FECAC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663440" y="407822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577840" y="4032504"/>
            <a:ext cx="6611112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5669280" y="407822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— bruteforce planifié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480560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548640" y="45262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A08 Data Integrity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63440" y="4480560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4663440" y="452628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577840" y="4480560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5669280" y="452628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SHA pinning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4928616"/>
            <a:ext cx="4114800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548640" y="49743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A09 Logging &amp; Monitoring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63440" y="4928616"/>
            <a:ext cx="822960" cy="402336"/>
          </a:xfrm>
          <a:prstGeom prst="rect">
            <a:avLst/>
          </a:prstGeom>
          <a:solidFill>
            <a:srgbClr val="FFFB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4663440" y="497433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577840" y="4928616"/>
            <a:ext cx="6611112" cy="402336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5669280" y="497433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— journalisation planifiée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" y="5376672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548640" y="54223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 SSRF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663440" y="5376672"/>
            <a:ext cx="822960" cy="402336"/>
          </a:xfrm>
          <a:prstGeom prst="rect">
            <a:avLst/>
          </a:prstGeom>
          <a:solidFill>
            <a:srgbClr val="BBF7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4663440" y="542239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577840" y="5376672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5669280" y="542239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 — aucun appel externe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correctives — Priorités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IMPLÉMENTÉ — A01 : JWT RBAC (USER/ADMIN) sur tous les endpoints sensibles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09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IMPLÉMENTÉ — A02 : Clé JWT sortie du code source → GitHub Secrets + Railway Variables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6829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IMPLÉMENTÉ — A03 : Entity Framework Core (requêtes paramétrées, 0 SQL brut)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2666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IMPLÉMENTÉ — A06 : Trivy scan CRITICAL/HIGH à chaque CI/CD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850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PLANIFIÉ — A07 : Rate limiting login + politique complexité mot de passe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PLANIFIÉ — A05 : Restriction CORS en production (URL Railway uniquement)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&amp; Données personnelles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EFEC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5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personnelles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— identification / connexion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 de passe — HACHÉ (jamais en clair)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utilisateur — contrôle d'accès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stress — DONNÉE DE SANTÉ (Art.9)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Holmes &amp; Rahe — donnée sensible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EFEC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50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de protection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automatique Railway (TLS)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diagnostic restreint à l'utilisateur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Séparation dev / prod (0 donnée réelle en dev)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 en cascade compte + diagnostics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: 2 ans max pour les diagnostics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crise — Scénarios &amp; réponse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F6EB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5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Critique (&lt; 30 min)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Fuite de données → Isolation Railway + reset credentials + CNIL 72h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Compromission CI/CD → Désactivation pipeline + reset secrets + audit commits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F6EB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5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P2/P3 — Majeur/Mineur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Indisponibilité → Vérif Railway status → Rollback Redeploy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Intrusion détectée → Analyse logs → Ticket security → Hotfix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: &lt; 2h | RPO : &lt; 24h (sauvegardes Railway)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Post-mortem : GitHub Issues (chronologie + cause racine)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technologique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15E5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EAF1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1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principales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 / ANSSI — CVE quotidiennes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— guides et cheat sheets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devblogs.microsoft.com/dotnet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Changelog — Actions CI/CD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TLDR Security — synthèse hebdo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4360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/ SonarCloud / Dependabot (auto)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EAF1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1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appliquées à CESIZen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attack → SHA pinning Actions GitHub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injection → --ignore-scripts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CI → env vars ($SONAR_TOKEN)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2021 → analyse complète appliquée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3950208"/>
            <a:ext cx="5394960" cy="548640"/>
          </a:xfrm>
          <a:prstGeom prst="rect">
            <a:avLst/>
          </a:prstGeom>
          <a:solidFill>
            <a:srgbClr val="F0FDFA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4652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Art.9 → protection données de santé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8992000" y="-1800000"/>
            <a:ext cx="4200000" cy="4200000"/>
          </a:xfrm>
          <a:prstGeom prst="ellipse">
            <a:avLst/>
          </a:prstGeom>
          <a:solidFill>
            <a:srgbClr val="E3F1E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92000" y="200000"/>
            <a:ext cx="220000" cy="220000"/>
          </a:xfrm>
          <a:prstGeom prst="ellipse">
            <a:avLst/>
          </a:prstGeom>
          <a:solidFill>
            <a:srgbClr val="B45309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192000" y="-800000"/>
            <a:ext cx="5000000" cy="5000000"/>
          </a:xfrm>
          <a:prstGeom prst="ellipse">
            <a:avLst/>
          </a:prstGeom>
          <a:solidFill>
            <a:srgbClr val="042F2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de production · GitHub · SonarCloud</a:t>
            </a:r>
            <a:endParaRPr lang="en-US" sz="1800" dirty="0"/>
          </a:p>
        </p:txBody>
      </p:sp>
      <p:sp>
        <p:nvSpPr>
          <p:cNvPr id="12" name="Oval 11"/>
          <p:cNvSpPr/>
          <p:nvPr/>
        </p:nvSpPr>
        <p:spPr>
          <a:xfrm>
            <a:off x="10042000" y="350000"/>
            <a:ext cx="1300000" cy="1300000"/>
          </a:xfrm>
          <a:prstGeom prst="ellipse">
            <a:avLst/>
          </a:prstGeom>
          <a:solidFill>
            <a:srgbClr val="0F766E"/>
          </a:solidFill>
          <a:ln>
            <a:noFill/>
          </a:ln>
          <a:effectLst>
            <a:outerShdw blurRad="90000" dist="30000" dir="5400000" algn="bl" rotWithShape="0">
              <a:srgbClr val="1F2E2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000" y="701000"/>
            <a:ext cx="598000" cy="59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de production Railway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4552" cy="749808"/>
          </a:xfrm>
          <a:prstGeom prst="rect">
            <a:avLst/>
          </a:prstGeom>
          <a:solidFill>
            <a:srgbClr val="134E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920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cesizen-production-7dc4.up.railway.app/api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1274552" cy="749808"/>
          </a:xfrm>
          <a:prstGeom prst="rect">
            <a:avLst/>
          </a:prstGeom>
          <a:solidFill>
            <a:srgbClr val="134E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Web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788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Railway (service cesizen-web)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11274552" cy="749808"/>
          </a:xfrm>
          <a:prstGeom prst="rect">
            <a:avLst/>
          </a:prstGeom>
          <a:solidFill>
            <a:srgbClr val="134E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3630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 CI/CD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6576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github.com/Clement-Souil/CesiZen → Actions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11274552" cy="749808"/>
          </a:xfrm>
          <a:prstGeom prst="rect">
            <a:avLst/>
          </a:prstGeom>
          <a:solidFill>
            <a:srgbClr val="134E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44988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🐛  Tickets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45262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github.com/Clement-Souil/CesiZen → Issues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303520"/>
            <a:ext cx="11274552" cy="749808"/>
          </a:xfrm>
          <a:prstGeom prst="rect">
            <a:avLst/>
          </a:prstGeom>
          <a:solidFill>
            <a:srgbClr val="134E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53675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SonarCloud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53949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sonarcloud.io → Clement-Souil_CesiZen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5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/>
          <p:cNvSpPr/>
          <p:nvPr/>
        </p:nvSpPr>
        <p:spPr>
          <a:xfrm>
            <a:off x="10592000" y="-400000"/>
            <a:ext cx="2000000" cy="200000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des critères Bloc 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déployé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API + Web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(5 jobs)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703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Flow + branch protection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436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4983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5440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 (labels + milestones)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05156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465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1143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OWASP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 analysés — 90% couverts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33172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4652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3720" y="2423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+ droits + mesures sécurité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61188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46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03720" y="3703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crise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scénarios documentés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4892040"/>
            <a:ext cx="5394960" cy="114300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46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03720" y="4983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techno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5440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multiples + automatisée CI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5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2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00000" y="300000"/>
            <a:ext cx="280000" cy="280000"/>
          </a:xfrm>
          <a:prstGeom prst="ellipse">
            <a:avLst/>
          </a:prstGeom>
          <a:solidFill>
            <a:srgbClr val="B45309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-1400000" y="-1600000"/>
            <a:ext cx="2600000" cy="2600000"/>
          </a:xfrm>
          <a:prstGeom prst="ellipse">
            <a:avLst/>
          </a:prstGeom>
          <a:solidFill>
            <a:srgbClr val="6B8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92000" y="-2400000"/>
            <a:ext cx="3800000" cy="3800000"/>
          </a:xfrm>
          <a:prstGeom prst="ellipse">
            <a:avLst/>
          </a:prstGeom>
          <a:solidFill>
            <a:srgbClr val="A79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-1800000" y="5258000"/>
            <a:ext cx="3400000" cy="3400000"/>
          </a:xfrm>
          <a:prstGeom prst="ellipse">
            <a:avLst/>
          </a:prstGeom>
          <a:solidFill>
            <a:srgbClr val="C98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792000" y="4658000"/>
            <a:ext cx="4400000" cy="440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-600000" y="4458000"/>
            <a:ext cx="3000000" cy="3000000"/>
          </a:xfrm>
          <a:prstGeom prst="ellipse">
            <a:avLst/>
          </a:prstGeom>
          <a:solidFill>
            <a:srgbClr val="14B8A6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92000" y="-800000"/>
            <a:ext cx="3800000" cy="3800000"/>
          </a:xfrm>
          <a:prstGeom prst="ellipse">
            <a:avLst/>
          </a:prstGeom>
          <a:solidFill>
            <a:srgbClr val="0D94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aux questions 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0" y="3657600"/>
            <a:ext cx="3959352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Clément Souil  ·  CESI CDA Bloc 3  ·  Juin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github.com/Clement-Souil/CesiZen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1252</Words>
  <Application>Microsoft Office PowerPoint</Application>
  <PresentationFormat>Grand écran</PresentationFormat>
  <Paragraphs>242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CESIZen — Bloc 3 Soutenance</dc:title>
  <dc:subject>PptxGenJS Presentation</dc:subject>
  <dc:creator>PptxGenJS</dc:creator>
  <cp:lastModifiedBy>SOUIL CLÉMENT</cp:lastModifiedBy>
  <cp:revision>4</cp:revision>
  <dcterms:created xsi:type="dcterms:W3CDTF">2026-06-20T11:17:40Z</dcterms:created>
  <dcterms:modified xsi:type="dcterms:W3CDTF">2026-07-09T12:01:31Z</dcterms:modified>
</cp:coreProperties>
</file>